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68" r:id="rId2"/>
    <p:sldId id="533" r:id="rId3"/>
    <p:sldId id="534" r:id="rId4"/>
    <p:sldId id="535" r:id="rId5"/>
    <p:sldId id="536" r:id="rId6"/>
    <p:sldId id="537" r:id="rId7"/>
    <p:sldId id="538" r:id="rId8"/>
    <p:sldId id="539" r:id="rId9"/>
    <p:sldId id="540" r:id="rId10"/>
    <p:sldId id="541" r:id="rId11"/>
    <p:sldId id="542" r:id="rId12"/>
    <p:sldId id="264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EA"/>
    <a:srgbClr val="38AA00"/>
    <a:srgbClr val="FFFFFF"/>
    <a:srgbClr val="766363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0472C-E42D-409B-8C27-DB2E802EEC81}" v="33" dt="2022-10-19T17:09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63" d="100"/>
          <a:sy n="63" d="100"/>
        </p:scale>
        <p:origin x="92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192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494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9396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5553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783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8488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30/11/2023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2869942" y="2094637"/>
            <a:ext cx="6453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JSON WEB TOKEN</a:t>
            </a:r>
            <a:endParaRPr lang="es-ES" sz="36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64021" y="3578275"/>
            <a:ext cx="6065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001" sz="3600" b="1" dirty="0">
                <a:solidFill>
                  <a:srgbClr val="38AA00"/>
                </a:solidFill>
                <a:latin typeface="Work Sans" pitchFamily="2" charset="77"/>
              </a:rPr>
              <a:t>Instructor:</a:t>
            </a:r>
          </a:p>
          <a:p>
            <a:pPr algn="ctr"/>
            <a:r>
              <a:rPr lang="en-001" sz="3600" b="1" dirty="0">
                <a:solidFill>
                  <a:srgbClr val="00324D"/>
                </a:solidFill>
                <a:latin typeface="Work Sans" pitchFamily="2" charset="77"/>
              </a:rPr>
              <a:t>Carlos Daniel Gomez Daza</a:t>
            </a:r>
            <a:endParaRPr lang="es-ES" sz="3600" b="1" dirty="0">
              <a:solidFill>
                <a:srgbClr val="00324D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455613" y="429362"/>
            <a:ext cx="10515600" cy="689089"/>
          </a:xfrm>
          <a:prstGeom prst="rect">
            <a:avLst/>
          </a:prstGeom>
        </p:spPr>
        <p:txBody>
          <a:bodyPr vert="horz" wrap="square" lIns="0" tIns="11865" rIns="0" bIns="0" rtlCol="0">
            <a:spAutoFit/>
          </a:bodyPr>
          <a:lstStyle/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s-ES" b="1" dirty="0">
                <a:solidFill>
                  <a:schemeClr val="bg1"/>
                </a:solidFill>
              </a:rPr>
              <a:t>¿Qué es JSON Web </a:t>
            </a:r>
            <a:r>
              <a:rPr lang="es-ES" b="1" dirty="0" err="1">
                <a:solidFill>
                  <a:schemeClr val="bg1"/>
                </a:solidFill>
              </a:rPr>
              <a:t>Token</a:t>
            </a:r>
            <a:r>
              <a:rPr lang="es-ES" b="1" dirty="0" smtClean="0">
                <a:solidFill>
                  <a:schemeClr val="bg1"/>
                </a:solidFill>
              </a:rPr>
              <a:t>?</a:t>
            </a:r>
            <a:endParaRPr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455613" y="1834218"/>
            <a:ext cx="55216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JSON Web </a:t>
            </a:r>
            <a:r>
              <a:rPr lang="es-ES" dirty="0" err="1"/>
              <a:t>Token</a:t>
            </a:r>
            <a:r>
              <a:rPr lang="es-ES" dirty="0"/>
              <a:t> (JWT) es un estándar abierto (RFC 7519) que define una forma compacta y autónoma de transmitir información de forma segura entre partes como un objeto JSON. Esta información puede ser verificada y confiable porque está firmada digitalmente. Los JWT se pueden firmar mediante un secreto (con el algoritmo HMAC) o un par de claves pública/privada mediante RSA o ECDSA.</a:t>
            </a:r>
            <a:endParaRPr lang="es-CO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122" y="1673795"/>
            <a:ext cx="4146091" cy="213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455613" y="429362"/>
            <a:ext cx="10515600" cy="689089"/>
          </a:xfrm>
          <a:prstGeom prst="rect">
            <a:avLst/>
          </a:prstGeom>
        </p:spPr>
        <p:txBody>
          <a:bodyPr vert="horz" wrap="square" lIns="0" tIns="11865" rIns="0" bIns="0" rtlCol="0">
            <a:spAutoFit/>
          </a:bodyPr>
          <a:lstStyle/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s-ES" b="1" dirty="0">
                <a:solidFill>
                  <a:schemeClr val="bg1"/>
                </a:solidFill>
              </a:rPr>
              <a:t>¿Cuándo se deben usar los </a:t>
            </a:r>
            <a:r>
              <a:rPr lang="es-ES" b="1" dirty="0" err="1">
                <a:solidFill>
                  <a:schemeClr val="bg1"/>
                </a:solidFill>
              </a:rPr>
              <a:t>tokens</a:t>
            </a:r>
            <a:r>
              <a:rPr lang="es-ES" b="1" dirty="0">
                <a:solidFill>
                  <a:schemeClr val="bg1"/>
                </a:solidFill>
              </a:rPr>
              <a:t> web JSON</a:t>
            </a:r>
            <a:r>
              <a:rPr lang="es-ES" b="1" dirty="0" smtClean="0">
                <a:solidFill>
                  <a:schemeClr val="bg1"/>
                </a:solidFill>
              </a:rPr>
              <a:t>?</a:t>
            </a:r>
            <a:endParaRPr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722" y="2546047"/>
            <a:ext cx="4146091" cy="2135237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455613" y="1716048"/>
            <a:ext cx="68455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Estos son algunos escenarios en los que los </a:t>
            </a:r>
            <a:r>
              <a:rPr lang="es-ES" dirty="0" err="1"/>
              <a:t>tokens</a:t>
            </a:r>
            <a:r>
              <a:rPr lang="es-ES" dirty="0"/>
              <a:t> web JSON son útiles:</a:t>
            </a:r>
          </a:p>
          <a:p>
            <a:pPr algn="just"/>
            <a:endParaRPr lang="es-ES" dirty="0"/>
          </a:p>
          <a:p>
            <a:pPr algn="just"/>
            <a:r>
              <a:rPr lang="es-ES" b="1" dirty="0"/>
              <a:t>Autorización: </a:t>
            </a:r>
            <a:r>
              <a:rPr lang="es-ES" dirty="0"/>
              <a:t>Este es el escenario más común para usar JWT. Una vez que el usuario haya iniciado sesión, cada solicitud posterior incluirá el JWT, lo que le permitirá acceder a rutas, servicios y recursos permitidos con ese </a:t>
            </a:r>
            <a:r>
              <a:rPr lang="es-ES" dirty="0" err="1"/>
              <a:t>token</a:t>
            </a:r>
            <a:r>
              <a:rPr lang="es-ES" dirty="0"/>
              <a:t>. El inicio de sesión único es una función que utiliza ampliamente JWT hoy en día, debido a su pequeña sobrecarga y su capacidad para usarse fácilmente en diferentes dominios.</a:t>
            </a:r>
          </a:p>
          <a:p>
            <a:pPr algn="just"/>
            <a:endParaRPr lang="es-ES" dirty="0"/>
          </a:p>
          <a:p>
            <a:pPr algn="just"/>
            <a:r>
              <a:rPr lang="es-ES" b="1" dirty="0"/>
              <a:t>Intercambio de información: </a:t>
            </a:r>
            <a:r>
              <a:rPr lang="es-ES" dirty="0"/>
              <a:t>Los </a:t>
            </a:r>
            <a:r>
              <a:rPr lang="es-ES" dirty="0" err="1"/>
              <a:t>tokens</a:t>
            </a:r>
            <a:r>
              <a:rPr lang="es-ES" dirty="0"/>
              <a:t> web JSON son una buena forma de transmitir información de forma segura entre las partes. Debido a que los JWT se pueden firmar, por ejemplo, mediante pares de claves públicas y privadas, puede estar seguro de que los remitentes son quienes dicen ser. Además, como la firma se calcula utilizando el encabezado y la carga útil, también puede verificar que el contenido no se haya manipulado.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7098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72733" y="349850"/>
            <a:ext cx="10515600" cy="1366198"/>
          </a:xfrm>
          <a:prstGeom prst="rect">
            <a:avLst/>
          </a:prstGeom>
        </p:spPr>
        <p:txBody>
          <a:bodyPr vert="horz" wrap="square" lIns="0" tIns="11865" rIns="0" bIns="0" rtlCol="0">
            <a:spAutoFit/>
          </a:bodyPr>
          <a:lstStyle/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s-ES" b="1" dirty="0">
                <a:solidFill>
                  <a:schemeClr val="bg1"/>
                </a:solidFill>
              </a:rPr>
              <a:t>¿Cuál es la estructura del </a:t>
            </a:r>
            <a:r>
              <a:rPr lang="es-ES" b="1" dirty="0" err="1">
                <a:solidFill>
                  <a:schemeClr val="bg1"/>
                </a:solidFill>
              </a:rPr>
              <a:t>token</a:t>
            </a:r>
            <a:r>
              <a:rPr lang="es-ES" b="1" dirty="0">
                <a:solidFill>
                  <a:schemeClr val="bg1"/>
                </a:solidFill>
              </a:rPr>
              <a:t> web JSON?</a:t>
            </a:r>
            <a:r>
              <a:rPr lang="es-ES" b="1" dirty="0"/>
              <a:t/>
            </a:r>
            <a:br>
              <a:rPr lang="es-ES" b="1" dirty="0"/>
            </a:br>
            <a:endParaRPr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5873" y="190863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/>
              <a:t>En su forma compacta, los </a:t>
            </a:r>
            <a:r>
              <a:rPr lang="es-ES" dirty="0" err="1"/>
              <a:t>tokens</a:t>
            </a:r>
            <a:r>
              <a:rPr lang="es-ES" dirty="0"/>
              <a:t> web JSON constan de tres partes separadas por puntos (), que son:.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Encabezado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Carga útil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Firma</a:t>
            </a:r>
            <a:endParaRPr lang="en-00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dirty="0"/>
              <a:t>Por lo tanto, un JWT suele tener el siguiente aspecto.</a:t>
            </a:r>
            <a:endParaRPr lang="es-CO" dirty="0"/>
          </a:p>
        </p:txBody>
      </p:sp>
      <p:sp>
        <p:nvSpPr>
          <p:cNvPr id="8" name="Rectángulo 7"/>
          <p:cNvSpPr/>
          <p:nvPr/>
        </p:nvSpPr>
        <p:spPr>
          <a:xfrm>
            <a:off x="545873" y="45195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b="1" dirty="0" err="1">
                <a:solidFill>
                  <a:srgbClr val="C00000"/>
                </a:solidFill>
              </a:rPr>
              <a:t>xxxxx.yyyyy.zzzzz</a:t>
            </a:r>
            <a:endParaRPr lang="es-CO" b="1" dirty="0">
              <a:solidFill>
                <a:srgbClr val="C00000"/>
              </a:solidFill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717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72733" y="349850"/>
            <a:ext cx="10515600" cy="1366198"/>
          </a:xfrm>
          <a:prstGeom prst="rect">
            <a:avLst/>
          </a:prstGeom>
        </p:spPr>
        <p:txBody>
          <a:bodyPr vert="horz" wrap="square" lIns="0" tIns="11865" rIns="0" bIns="0" rtlCol="0">
            <a:spAutoFit/>
          </a:bodyPr>
          <a:lstStyle/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n-001" b="1" dirty="0">
                <a:solidFill>
                  <a:schemeClr val="bg1"/>
                </a:solidFill>
              </a:rPr>
              <a:t>E</a:t>
            </a:r>
            <a:r>
              <a:rPr lang="es-ES" b="1" dirty="0" err="1" smtClean="0">
                <a:solidFill>
                  <a:schemeClr val="bg1"/>
                </a:solidFill>
              </a:rPr>
              <a:t>structura</a:t>
            </a:r>
            <a:r>
              <a:rPr lang="en-001" b="1" dirty="0" smtClean="0">
                <a:solidFill>
                  <a:schemeClr val="bg1"/>
                </a:solidFill>
              </a:rPr>
              <a:t>: Encabezado</a:t>
            </a:r>
            <a:r>
              <a:rPr lang="es-ES" b="1" dirty="0"/>
              <a:t/>
            </a:r>
            <a:br>
              <a:rPr lang="es-ES" b="1" dirty="0"/>
            </a:br>
            <a:endParaRPr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533400" y="1813173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/>
              <a:t>El encabezado suele constar de dos partes: el tipo de </a:t>
            </a:r>
            <a:r>
              <a:rPr lang="es-ES" dirty="0" err="1"/>
              <a:t>token</a:t>
            </a:r>
            <a:r>
              <a:rPr lang="es-ES" dirty="0"/>
              <a:t>, que es JWT, y el algoritmo de firma que se utiliza, como HMAC SHA256 o RSA.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Por ejemplo: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{</a:t>
            </a:r>
          </a:p>
          <a:p>
            <a:pPr algn="just"/>
            <a:r>
              <a:rPr lang="es-ES" dirty="0"/>
              <a:t>  "</a:t>
            </a:r>
            <a:r>
              <a:rPr lang="es-ES" dirty="0" err="1"/>
              <a:t>alg</a:t>
            </a:r>
            <a:r>
              <a:rPr lang="es-ES" dirty="0"/>
              <a:t>": "HS256",</a:t>
            </a:r>
          </a:p>
          <a:p>
            <a:pPr algn="just"/>
            <a:r>
              <a:rPr lang="es-ES" dirty="0"/>
              <a:t>  "</a:t>
            </a:r>
            <a:r>
              <a:rPr lang="es-ES" dirty="0" err="1"/>
              <a:t>typ</a:t>
            </a:r>
            <a:r>
              <a:rPr lang="es-ES" dirty="0"/>
              <a:t>": "JWT"</a:t>
            </a:r>
          </a:p>
          <a:p>
            <a:pPr algn="just"/>
            <a:r>
              <a:rPr lang="es-ES" dirty="0"/>
              <a:t>}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155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94653" y="446975"/>
            <a:ext cx="10515600" cy="1366198"/>
          </a:xfrm>
          <a:prstGeom prst="rect">
            <a:avLst/>
          </a:prstGeom>
        </p:spPr>
        <p:txBody>
          <a:bodyPr vert="horz" wrap="square" lIns="0" tIns="118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s-CO" b="1" dirty="0" smtClean="0">
                <a:solidFill>
                  <a:schemeClr val="bg1"/>
                </a:solidFill>
              </a:rPr>
              <a:t>Estructura: </a:t>
            </a:r>
            <a:r>
              <a:rPr lang="en-001" b="1" dirty="0" smtClean="0">
                <a:solidFill>
                  <a:schemeClr val="bg1"/>
                </a:solidFill>
              </a:rPr>
              <a:t>Carga Util</a:t>
            </a:r>
            <a:r>
              <a:rPr lang="es-CO" b="1" dirty="0" smtClean="0"/>
              <a:t/>
            </a:r>
            <a:br>
              <a:rPr lang="es-CO" b="1" dirty="0" smtClean="0"/>
            </a:br>
            <a:endParaRPr lang="es-CO"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94653" y="1630293"/>
            <a:ext cx="797210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segunda parte del </a:t>
            </a:r>
            <a:r>
              <a:rPr lang="es-ES" dirty="0" err="1"/>
              <a:t>token</a:t>
            </a:r>
            <a:r>
              <a:rPr lang="es-ES" dirty="0"/>
              <a:t> es la carga útil, que contiene las notificaciones. Las notificaciones son declaraciones sobre una entidad (normalmente, el usuario) y datos adicionales. Hay tres tipos de reclamaciones: registradas, públicas y privadas.</a:t>
            </a:r>
          </a:p>
          <a:p>
            <a:pPr algn="just"/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 smtClean="0"/>
              <a:t>Notificaciones registradas: </a:t>
            </a:r>
            <a:r>
              <a:rPr lang="es-ES" dirty="0" smtClean="0"/>
              <a:t>Se </a:t>
            </a:r>
            <a:r>
              <a:rPr lang="es-ES" dirty="0"/>
              <a:t>trata de un conjunto de </a:t>
            </a:r>
            <a:r>
              <a:rPr lang="es-ES" dirty="0" smtClean="0"/>
              <a:t>notificaciones </a:t>
            </a:r>
            <a:r>
              <a:rPr lang="es-ES" dirty="0"/>
              <a:t>predefinidas que no son obligatorias, pero sí recomendadas, para proporcionar un conjunto de notificaciones útiles e interoperables. Algunos de ellos son: </a:t>
            </a:r>
            <a:r>
              <a:rPr lang="es-ES" dirty="0" err="1"/>
              <a:t>iss</a:t>
            </a:r>
            <a:r>
              <a:rPr lang="es-ES" dirty="0"/>
              <a:t> (emisor), </a:t>
            </a:r>
            <a:r>
              <a:rPr lang="es-ES" dirty="0" err="1"/>
              <a:t>exp</a:t>
            </a:r>
            <a:r>
              <a:rPr lang="es-ES" dirty="0"/>
              <a:t> (tiempo de vencimiento), sub (sujeto), </a:t>
            </a:r>
            <a:r>
              <a:rPr lang="es-ES" dirty="0" err="1"/>
              <a:t>aud</a:t>
            </a:r>
            <a:r>
              <a:rPr lang="es-ES" dirty="0"/>
              <a:t> (audiencia) y otros</a:t>
            </a:r>
            <a:r>
              <a:rPr lang="es-ES" dirty="0" smtClean="0"/>
              <a:t>.</a:t>
            </a:r>
            <a:endParaRPr lang="en-001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001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 smtClean="0"/>
              <a:t>Afirmaciones </a:t>
            </a:r>
            <a:r>
              <a:rPr lang="es-ES" b="1" dirty="0"/>
              <a:t>públicas: </a:t>
            </a:r>
            <a:r>
              <a:rPr lang="es-ES" dirty="0"/>
              <a:t>Pueden ser definidas a voluntad por aquellos que utilizan JWT. Sin embargo, para evitar colisiones, deben definirse en el registro de </a:t>
            </a:r>
            <a:r>
              <a:rPr lang="es-ES" dirty="0" err="1"/>
              <a:t>tokens</a:t>
            </a:r>
            <a:r>
              <a:rPr lang="es-ES" dirty="0"/>
              <a:t> web JSON de la IANA o definirse como un URI que contenga un espacio de nombres resistente a las colisiones.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Notificaciones privadas:</a:t>
            </a:r>
            <a:r>
              <a:rPr lang="es-ES" dirty="0"/>
              <a:t> Son las notificaciones personalizadas creadas para compartir información entre partes que acuerdan usarlas y no son notificaciones registradas ni públicas.</a:t>
            </a:r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t="22013" r="63507"/>
          <a:stretch/>
        </p:blipFill>
        <p:spPr>
          <a:xfrm>
            <a:off x="8366760" y="2315374"/>
            <a:ext cx="3581223" cy="259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4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94653" y="446975"/>
            <a:ext cx="10515600" cy="1366198"/>
          </a:xfrm>
          <a:prstGeom prst="rect">
            <a:avLst/>
          </a:prstGeom>
        </p:spPr>
        <p:txBody>
          <a:bodyPr vert="horz" wrap="square" lIns="0" tIns="118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s-CO" b="1" dirty="0" smtClean="0">
                <a:solidFill>
                  <a:schemeClr val="bg1"/>
                </a:solidFill>
              </a:rPr>
              <a:t>Estructura: </a:t>
            </a:r>
            <a:r>
              <a:rPr lang="en-001" b="1" dirty="0" smtClean="0">
                <a:solidFill>
                  <a:schemeClr val="bg1"/>
                </a:solidFill>
              </a:rPr>
              <a:t>Firma</a:t>
            </a:r>
            <a:r>
              <a:rPr lang="es-CO" b="1" dirty="0" smtClean="0"/>
              <a:t/>
            </a:r>
            <a:br>
              <a:rPr lang="es-CO" b="1" dirty="0" smtClean="0"/>
            </a:br>
            <a:endParaRPr lang="es-CO"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94653" y="185934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/>
              <a:t>Para crear la parte de firma, debe tomar el encabezado codificado, la carga útil codificada, un secreto, el algoritmo especificado en el encabezado y firmarlo.</a:t>
            </a:r>
          </a:p>
          <a:p>
            <a:endParaRPr lang="es-ES" dirty="0"/>
          </a:p>
          <a:p>
            <a:r>
              <a:rPr lang="es-ES" dirty="0"/>
              <a:t>Por ejemplo, si desea utilizar el algoritmo HMAC SHA256, la firma se creará de la siguiente manera:</a:t>
            </a:r>
            <a:endParaRPr lang="es-CO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r="30663"/>
          <a:stretch/>
        </p:blipFill>
        <p:spPr>
          <a:xfrm>
            <a:off x="321338" y="3792927"/>
            <a:ext cx="6242630" cy="1661943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852229" y="1859340"/>
            <a:ext cx="47086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firma se usa para verificar que el mensaje no se cambió en el camino y, en el caso de los </a:t>
            </a:r>
            <a:r>
              <a:rPr lang="es-ES" dirty="0" err="1"/>
              <a:t>tokens</a:t>
            </a:r>
            <a:r>
              <a:rPr lang="es-ES" dirty="0"/>
              <a:t> firmados con una clave privada, también puede verificar que el remitente del JWT es quien dice ser.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002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94653" y="446975"/>
            <a:ext cx="10515600" cy="1366198"/>
          </a:xfrm>
          <a:prstGeom prst="rect">
            <a:avLst/>
          </a:prstGeom>
        </p:spPr>
        <p:txBody>
          <a:bodyPr vert="horz" wrap="square" lIns="0" tIns="118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s-CO" b="1" dirty="0" smtClean="0">
                <a:solidFill>
                  <a:schemeClr val="bg1"/>
                </a:solidFill>
              </a:rPr>
              <a:t>Estructura:</a:t>
            </a:r>
            <a:r>
              <a:rPr lang="en-001" b="1" dirty="0" smtClean="0">
                <a:solidFill>
                  <a:schemeClr val="bg1"/>
                </a:solidFill>
              </a:rPr>
              <a:t> Juntando todo</a:t>
            </a:r>
            <a:r>
              <a:rPr lang="es-CO" b="1" dirty="0" smtClean="0"/>
              <a:t/>
            </a:r>
            <a:br>
              <a:rPr lang="es-CO" b="1" dirty="0" smtClean="0"/>
            </a:br>
            <a:endParaRPr lang="es-CO"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94653" y="19700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/>
              <a:t>El resultado son tres cadenas Base64-URL separadas por puntos que se pueden pasar fácilmente en entornos HTML y HTTP, a la vez que son más compactas en comparación con los estándares basados en XML, como SAML.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A continuación se muestra un JWT que tiene codificados el encabezado y la carga anteriores, y está firmado con un secreto.</a:t>
            </a:r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14225" r="11754"/>
          <a:stretch/>
        </p:blipFill>
        <p:spPr>
          <a:xfrm>
            <a:off x="338416" y="4435227"/>
            <a:ext cx="7144423" cy="188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5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94653" y="446975"/>
            <a:ext cx="10515600" cy="1366198"/>
          </a:xfrm>
          <a:prstGeom prst="rect">
            <a:avLst/>
          </a:prstGeom>
        </p:spPr>
        <p:txBody>
          <a:bodyPr vert="horz" wrap="square" lIns="0" tIns="118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s-CO" b="1" dirty="0" smtClean="0">
                <a:solidFill>
                  <a:schemeClr val="bg1"/>
                </a:solidFill>
              </a:rPr>
              <a:t>Estructura:</a:t>
            </a:r>
            <a:r>
              <a:rPr lang="en-001" b="1" dirty="0" smtClean="0">
                <a:solidFill>
                  <a:schemeClr val="bg1"/>
                </a:solidFill>
              </a:rPr>
              <a:t> Juntando todo</a:t>
            </a:r>
            <a:r>
              <a:rPr lang="es-CO" b="1" dirty="0" smtClean="0"/>
              <a:t/>
            </a:r>
            <a:br>
              <a:rPr lang="es-CO" b="1" dirty="0" smtClean="0"/>
            </a:br>
            <a:endParaRPr lang="es-CO"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94653" y="1970038"/>
            <a:ext cx="558256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El resultado son tres cadenas Base64-URL separadas por puntos que se pueden pasar fácilmente en entornos HTML y HTTP, a la vez que son más compactas en comparación con los estándares basados en XML, como SAML.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A continuación se muestra un JWT que tiene codificados el encabezado y la carga anteriores, y está firmado con un secreto.</a:t>
            </a:r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14225" r="11754"/>
          <a:stretch/>
        </p:blipFill>
        <p:spPr>
          <a:xfrm>
            <a:off x="338416" y="4435227"/>
            <a:ext cx="6152237" cy="188937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575" y="1554480"/>
            <a:ext cx="4900206" cy="50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2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94653" y="446975"/>
            <a:ext cx="10515600" cy="1366198"/>
          </a:xfrm>
          <a:prstGeom prst="rect">
            <a:avLst/>
          </a:prstGeom>
        </p:spPr>
        <p:txBody>
          <a:bodyPr vert="horz" wrap="square" lIns="0" tIns="118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n-001" b="1" dirty="0" smtClean="0">
                <a:solidFill>
                  <a:schemeClr val="bg1"/>
                </a:solidFill>
              </a:rPr>
              <a:t>Como funcionan los tokens ?</a:t>
            </a:r>
            <a:r>
              <a:rPr lang="es-CO" b="1" dirty="0" smtClean="0"/>
              <a:t/>
            </a:r>
            <a:br>
              <a:rPr lang="es-CO" b="1" dirty="0" smtClean="0"/>
            </a:br>
            <a:endParaRPr lang="es-CO"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502920" y="1700243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/>
              <a:t>En la autenticación, cuando el usuario inicia sesión correctamente con sus credenciales, se devolverá un </a:t>
            </a:r>
            <a:r>
              <a:rPr lang="es-ES" dirty="0" err="1"/>
              <a:t>token</a:t>
            </a:r>
            <a:r>
              <a:rPr lang="es-ES" dirty="0"/>
              <a:t> web JSON. Dado que los </a:t>
            </a:r>
            <a:r>
              <a:rPr lang="es-ES" dirty="0" err="1"/>
              <a:t>tokens</a:t>
            </a:r>
            <a:r>
              <a:rPr lang="es-ES" dirty="0"/>
              <a:t> son credenciales, se debe tener mucho cuidado para evitar problemas de seguridad. En general, no debe conservar los </a:t>
            </a:r>
            <a:r>
              <a:rPr lang="es-ES" dirty="0" err="1"/>
              <a:t>tokens</a:t>
            </a:r>
            <a:r>
              <a:rPr lang="es-ES" dirty="0"/>
              <a:t> más tiempo del necesario.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Tampoco debe almacenar datos confidenciales de la sesión en el almacenamiento del navegador debido a la falta de seguridad.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Siempre que el usuario desee acceder a una ruta o recurso protegido, el agente de usuario debe enviar el JWT, normalmente en el encabezado </a:t>
            </a:r>
            <a:r>
              <a:rPr lang="es-ES" dirty="0" err="1"/>
              <a:t>Authorization</a:t>
            </a:r>
            <a:r>
              <a:rPr lang="es-ES" dirty="0"/>
              <a:t> utilizando el esquema </a:t>
            </a:r>
            <a:r>
              <a:rPr lang="es-ES" dirty="0" err="1"/>
              <a:t>Bearer</a:t>
            </a:r>
            <a:r>
              <a:rPr lang="es-ES" dirty="0"/>
              <a:t>. El contenido del encabezado debe tener el siguiente aspecto:</a:t>
            </a:r>
            <a:endParaRPr lang="es-CO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014" y="2650800"/>
            <a:ext cx="5369204" cy="118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1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94653" y="446975"/>
            <a:ext cx="10515600" cy="1366198"/>
          </a:xfrm>
          <a:prstGeom prst="rect">
            <a:avLst/>
          </a:prstGeom>
        </p:spPr>
        <p:txBody>
          <a:bodyPr vert="horz" wrap="square" lIns="0" tIns="118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866">
              <a:lnSpc>
                <a:spcPct val="100000"/>
              </a:lnSpc>
              <a:spcBef>
                <a:spcPts val="93"/>
              </a:spcBef>
            </a:pPr>
            <a:r>
              <a:rPr lang="en-001" b="1" dirty="0" smtClean="0">
                <a:solidFill>
                  <a:schemeClr val="bg1"/>
                </a:solidFill>
              </a:rPr>
              <a:t>Diagrama</a:t>
            </a:r>
            <a:r>
              <a:rPr lang="es-CO" b="1" dirty="0" smtClean="0"/>
              <a:t/>
            </a:r>
            <a:br>
              <a:rPr lang="es-CO" b="1" dirty="0" smtClean="0"/>
            </a:br>
            <a:endParaRPr lang="es-CO" b="1" spc="-42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9743"/>
            <a:ext cx="6620828" cy="3338513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620828" y="2155596"/>
            <a:ext cx="526044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ES" dirty="0"/>
              <a:t>La aplicación o el cliente solicita autorización al servidor de autorización. Esto se realiza a través de uno de los diferentes flujos de autorización. Por ejemplo, una aplicación web típica compatible con </a:t>
            </a:r>
            <a:r>
              <a:rPr lang="es-ES" dirty="0" err="1"/>
              <a:t>OpenID</a:t>
            </a:r>
            <a:r>
              <a:rPr lang="es-ES" dirty="0"/>
              <a:t> </a:t>
            </a:r>
            <a:r>
              <a:rPr lang="es-ES" dirty="0" err="1"/>
              <a:t>Connect</a:t>
            </a:r>
            <a:r>
              <a:rPr lang="es-ES" dirty="0"/>
              <a:t> pasará por el punto de conexión mediante el flujo de código de autorización./</a:t>
            </a:r>
            <a:r>
              <a:rPr lang="es-ES" dirty="0" err="1"/>
              <a:t>oauth</a:t>
            </a:r>
            <a:r>
              <a:rPr lang="es-ES" dirty="0"/>
              <a:t>/</a:t>
            </a:r>
            <a:r>
              <a:rPr lang="es-ES" dirty="0" err="1"/>
              <a:t>authorize</a:t>
            </a:r>
            <a:endParaRPr lang="es-ES" dirty="0"/>
          </a:p>
          <a:p>
            <a:pPr marL="342900" indent="-342900" algn="just">
              <a:buFont typeface="+mj-lt"/>
              <a:buAutoNum type="arabicPeriod"/>
            </a:pPr>
            <a:r>
              <a:rPr lang="es-ES" dirty="0"/>
              <a:t>Cuando se concede la autorización, el servidor de autorización devuelve un </a:t>
            </a:r>
            <a:r>
              <a:rPr lang="es-ES" dirty="0" err="1"/>
              <a:t>token</a:t>
            </a:r>
            <a:r>
              <a:rPr lang="es-ES" dirty="0"/>
              <a:t> de acceso a la aplicación.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dirty="0"/>
              <a:t>La aplicación utiliza el </a:t>
            </a:r>
            <a:r>
              <a:rPr lang="es-ES" dirty="0" err="1"/>
              <a:t>token</a:t>
            </a:r>
            <a:r>
              <a:rPr lang="es-ES" dirty="0"/>
              <a:t> de acceso para acceder a un recurso protegido (como una API).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5021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7292</TotalTime>
  <Words>998</Words>
  <Application>Microsoft Office PowerPoint</Application>
  <PresentationFormat>Panorámica</PresentationFormat>
  <Paragraphs>77</Paragraphs>
  <Slides>12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Georgia</vt:lpstr>
      <vt:lpstr>Work Sans</vt:lpstr>
      <vt:lpstr>Tema de Office</vt:lpstr>
      <vt:lpstr>Presentación de PowerPoint</vt:lpstr>
      <vt:lpstr>¿Qué es JSON Web Token?</vt:lpstr>
      <vt:lpstr>¿Cuándo se deben usar los tokens web JSON?</vt:lpstr>
      <vt:lpstr>¿Cuál es la estructura del token web JSON? </vt:lpstr>
      <vt:lpstr>Estructura: Encabezado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117</cp:revision>
  <dcterms:created xsi:type="dcterms:W3CDTF">2020-10-01T23:51:28Z</dcterms:created>
  <dcterms:modified xsi:type="dcterms:W3CDTF">2023-11-30T20:19:41Z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